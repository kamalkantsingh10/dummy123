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Six Months. One Application Fully Modernized.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2468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459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100584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 + 1 Architect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8036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tech design,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brief, test strategy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686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right before a single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code is written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46888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337560" y="1463040"/>
            <a:ext cx="2468880" cy="2468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Shape 14"/>
          <p:cNvSpPr/>
          <p:nvPr/>
        </p:nvSpPr>
        <p:spPr>
          <a:xfrm>
            <a:off x="3337560" y="1463040"/>
            <a:ext cx="24688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5"/>
          <p:cNvSpPr/>
          <p:nvPr/>
        </p:nvSpPr>
        <p:spPr>
          <a:xfrm>
            <a:off x="3474720" y="16459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6"/>
          <p:cNvSpPr/>
          <p:nvPr/>
        </p:nvSpPr>
        <p:spPr>
          <a:xfrm>
            <a:off x="34747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393192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3474720" y="2194560"/>
            <a:ext cx="100584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347472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606040"/>
            <a:ext cx="164592" cy="1645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0332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 + 2 COBOL Devs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880360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0332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UAT-complete code,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tested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47472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Epic per week, 2-day sprints,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rework buffer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246888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943600" y="1463040"/>
            <a:ext cx="2468880" cy="24688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2" name="Shape 24"/>
          <p:cNvSpPr/>
          <p:nvPr/>
        </p:nvSpPr>
        <p:spPr>
          <a:xfrm>
            <a:off x="5943600" y="1463040"/>
            <a:ext cx="246888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Shape 25"/>
          <p:cNvSpPr/>
          <p:nvPr/>
        </p:nvSpPr>
        <p:spPr>
          <a:xfrm>
            <a:off x="6080760" y="164592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26"/>
          <p:cNvSpPr/>
          <p:nvPr/>
        </p:nvSpPr>
        <p:spPr>
          <a:xfrm>
            <a:off x="60807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65379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800" dirty="0"/>
          </a:p>
        </p:txBody>
      </p:sp>
      <p:sp>
        <p:nvSpPr>
          <p:cNvPr id="36" name="Shape 28"/>
          <p:cNvSpPr/>
          <p:nvPr/>
        </p:nvSpPr>
        <p:spPr>
          <a:xfrm>
            <a:off x="6080760" y="2194560"/>
            <a:ext cx="10058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29"/>
          <p:cNvSpPr/>
          <p:nvPr/>
        </p:nvSpPr>
        <p:spPr>
          <a:xfrm>
            <a:off x="608076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606040"/>
            <a:ext cx="164592" cy="16459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0936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team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880360"/>
            <a:ext cx="164592" cy="16459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30936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system retired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608076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 with real data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switches off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34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PREPARATION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274320"/>
            <a:ext cx="731520" cy="2011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274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852160" y="274320"/>
            <a:ext cx="1280160" cy="20116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0" y="274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 + 1 Architect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530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It Right Before a Single Line of Code Is Written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229600" cy="21945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1328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9339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49424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05456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9584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785616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41648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5371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9744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065776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21808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557784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83387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9904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5936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6601968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11403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0064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7626096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7"/>
          <p:cNvSpPr/>
          <p:nvPr/>
        </p:nvSpPr>
        <p:spPr>
          <a:xfrm>
            <a:off x="7882128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8160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8394192" y="1965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8375904" y="2093976"/>
            <a:ext cx="219456" cy="1152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3246120"/>
            <a:ext cx="8229600" cy="21945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5" name="Shape 43"/>
          <p:cNvSpPr/>
          <p:nvPr/>
        </p:nvSpPr>
        <p:spPr>
          <a:xfrm>
            <a:off x="71323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6" name="Shape 44"/>
          <p:cNvSpPr/>
          <p:nvPr/>
        </p:nvSpPr>
        <p:spPr>
          <a:xfrm>
            <a:off x="969264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1225296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8" name="Shape 46"/>
          <p:cNvSpPr/>
          <p:nvPr/>
        </p:nvSpPr>
        <p:spPr>
          <a:xfrm>
            <a:off x="1481328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9" name="Shape 47"/>
          <p:cNvSpPr/>
          <p:nvPr/>
        </p:nvSpPr>
        <p:spPr>
          <a:xfrm>
            <a:off x="173736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0" name="Shape 48"/>
          <p:cNvSpPr/>
          <p:nvPr/>
        </p:nvSpPr>
        <p:spPr>
          <a:xfrm>
            <a:off x="199339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2249424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2505456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3" name="Shape 51"/>
          <p:cNvSpPr/>
          <p:nvPr/>
        </p:nvSpPr>
        <p:spPr>
          <a:xfrm>
            <a:off x="2761488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4" name="Shape 52"/>
          <p:cNvSpPr/>
          <p:nvPr/>
        </p:nvSpPr>
        <p:spPr>
          <a:xfrm>
            <a:off x="301752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5" name="Shape 53"/>
          <p:cNvSpPr/>
          <p:nvPr/>
        </p:nvSpPr>
        <p:spPr>
          <a:xfrm>
            <a:off x="327355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6" name="Shape 54"/>
          <p:cNvSpPr/>
          <p:nvPr/>
        </p:nvSpPr>
        <p:spPr>
          <a:xfrm>
            <a:off x="3529584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7" name="Shape 55"/>
          <p:cNvSpPr/>
          <p:nvPr/>
        </p:nvSpPr>
        <p:spPr>
          <a:xfrm>
            <a:off x="3785616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8" name="Shape 56"/>
          <p:cNvSpPr/>
          <p:nvPr/>
        </p:nvSpPr>
        <p:spPr>
          <a:xfrm>
            <a:off x="4041648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9" name="Shape 57"/>
          <p:cNvSpPr/>
          <p:nvPr/>
        </p:nvSpPr>
        <p:spPr>
          <a:xfrm>
            <a:off x="429768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0" name="Shape 58"/>
          <p:cNvSpPr/>
          <p:nvPr/>
        </p:nvSpPr>
        <p:spPr>
          <a:xfrm>
            <a:off x="455371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1" name="Shape 59"/>
          <p:cNvSpPr/>
          <p:nvPr/>
        </p:nvSpPr>
        <p:spPr>
          <a:xfrm>
            <a:off x="4809744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2" name="Shape 60"/>
          <p:cNvSpPr/>
          <p:nvPr/>
        </p:nvSpPr>
        <p:spPr>
          <a:xfrm>
            <a:off x="5065776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3" name="Shape 61"/>
          <p:cNvSpPr/>
          <p:nvPr/>
        </p:nvSpPr>
        <p:spPr>
          <a:xfrm>
            <a:off x="5321808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4" name="Shape 62"/>
          <p:cNvSpPr/>
          <p:nvPr/>
        </p:nvSpPr>
        <p:spPr>
          <a:xfrm>
            <a:off x="557784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5" name="Shape 63"/>
          <p:cNvSpPr/>
          <p:nvPr/>
        </p:nvSpPr>
        <p:spPr>
          <a:xfrm>
            <a:off x="583387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6" name="Shape 64"/>
          <p:cNvSpPr/>
          <p:nvPr/>
        </p:nvSpPr>
        <p:spPr>
          <a:xfrm>
            <a:off x="6089904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7" name="Shape 65"/>
          <p:cNvSpPr/>
          <p:nvPr/>
        </p:nvSpPr>
        <p:spPr>
          <a:xfrm>
            <a:off x="6345936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8" name="Shape 66"/>
          <p:cNvSpPr/>
          <p:nvPr/>
        </p:nvSpPr>
        <p:spPr>
          <a:xfrm>
            <a:off x="6601968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9" name="Shape 67"/>
          <p:cNvSpPr/>
          <p:nvPr/>
        </p:nvSpPr>
        <p:spPr>
          <a:xfrm>
            <a:off x="685800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0" name="Shape 68"/>
          <p:cNvSpPr/>
          <p:nvPr/>
        </p:nvSpPr>
        <p:spPr>
          <a:xfrm>
            <a:off x="711403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1" name="Shape 69"/>
          <p:cNvSpPr/>
          <p:nvPr/>
        </p:nvSpPr>
        <p:spPr>
          <a:xfrm>
            <a:off x="7370064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2" name="Shape 70"/>
          <p:cNvSpPr/>
          <p:nvPr/>
        </p:nvSpPr>
        <p:spPr>
          <a:xfrm>
            <a:off x="7626096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3" name="Shape 71"/>
          <p:cNvSpPr/>
          <p:nvPr/>
        </p:nvSpPr>
        <p:spPr>
          <a:xfrm>
            <a:off x="7882128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4" name="Shape 72"/>
          <p:cNvSpPr/>
          <p:nvPr/>
        </p:nvSpPr>
        <p:spPr>
          <a:xfrm>
            <a:off x="8138160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5" name="Shape 73"/>
          <p:cNvSpPr/>
          <p:nvPr/>
        </p:nvSpPr>
        <p:spPr>
          <a:xfrm>
            <a:off x="8394192" y="33375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6" name="Shape 74"/>
          <p:cNvSpPr/>
          <p:nvPr/>
        </p:nvSpPr>
        <p:spPr>
          <a:xfrm>
            <a:off x="1417320" y="1856232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7" name="Text 75"/>
          <p:cNvSpPr/>
          <p:nvPr/>
        </p:nvSpPr>
        <p:spPr>
          <a:xfrm>
            <a:off x="141732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7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960120"/>
            <a:ext cx="292608" cy="292608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91440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ADDI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WCA4Z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914400" y="1581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tool to fully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application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3337560" y="1856232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2" name="Text 79"/>
          <p:cNvSpPr/>
          <p:nvPr/>
        </p:nvSpPr>
        <p:spPr>
          <a:xfrm>
            <a:off x="333756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8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960120"/>
            <a:ext cx="292608" cy="292608"/>
          </a:xfrm>
          <a:prstGeom prst="rect">
            <a:avLst/>
          </a:prstGeom>
        </p:spPr>
      </p:pic>
      <p:sp>
        <p:nvSpPr>
          <p:cNvPr id="84" name="Text 80"/>
          <p:cNvSpPr/>
          <p:nvPr/>
        </p:nvSpPr>
        <p:spPr>
          <a:xfrm>
            <a:off x="283464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Technical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85" name="Text 81"/>
          <p:cNvSpPr/>
          <p:nvPr/>
        </p:nvSpPr>
        <p:spPr>
          <a:xfrm>
            <a:off x="2834640" y="1581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SSP 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5257800" y="185623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7" name="Text 83"/>
          <p:cNvSpPr/>
          <p:nvPr/>
        </p:nvSpPr>
        <p:spPr>
          <a:xfrm>
            <a:off x="525780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8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960120"/>
            <a:ext cx="292608" cy="292608"/>
          </a:xfrm>
          <a:prstGeom prst="rect">
            <a:avLst/>
          </a:prstGeom>
        </p:spPr>
      </p:pic>
      <p:sp>
        <p:nvSpPr>
          <p:cNvPr id="89" name="Text 84"/>
          <p:cNvSpPr/>
          <p:nvPr/>
        </p:nvSpPr>
        <p:spPr>
          <a:xfrm>
            <a:off x="475488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000" dirty="0"/>
          </a:p>
        </p:txBody>
      </p:sp>
      <p:sp>
        <p:nvSpPr>
          <p:cNvPr id="90" name="Text 85"/>
          <p:cNvSpPr/>
          <p:nvPr/>
        </p:nvSpPr>
        <p:spPr>
          <a:xfrm>
            <a:off x="4754880" y="1581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divided into Epics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Epic = 1 function)</a:t>
            </a:r>
            <a:endParaRPr lang="en-US" sz="800" dirty="0"/>
          </a:p>
        </p:txBody>
      </p:sp>
      <p:sp>
        <p:nvSpPr>
          <p:cNvPr id="91" name="Shape 86"/>
          <p:cNvSpPr/>
          <p:nvPr/>
        </p:nvSpPr>
        <p:spPr>
          <a:xfrm>
            <a:off x="7178040" y="185623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2" name="Text 87"/>
          <p:cNvSpPr/>
          <p:nvPr/>
        </p:nvSpPr>
        <p:spPr>
          <a:xfrm>
            <a:off x="717804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9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960120"/>
            <a:ext cx="292608" cy="292608"/>
          </a:xfrm>
          <a:prstGeom prst="rect">
            <a:avLst/>
          </a:prstGeom>
        </p:spPr>
      </p:pic>
      <p:sp>
        <p:nvSpPr>
          <p:cNvPr id="94" name="Text 88"/>
          <p:cNvSpPr/>
          <p:nvPr/>
        </p:nvSpPr>
        <p:spPr>
          <a:xfrm>
            <a:off x="667512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95" name="Text 89"/>
          <p:cNvSpPr/>
          <p:nvPr/>
        </p:nvSpPr>
        <p:spPr>
          <a:xfrm>
            <a:off x="6675120" y="1581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coding standards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technical watchouts</a:t>
            </a:r>
            <a:endParaRPr lang="en-US" sz="800" dirty="0"/>
          </a:p>
        </p:txBody>
      </p:sp>
      <p:sp>
        <p:nvSpPr>
          <p:cNvPr id="96" name="Shape 90"/>
          <p:cNvSpPr/>
          <p:nvPr/>
        </p:nvSpPr>
        <p:spPr>
          <a:xfrm>
            <a:off x="7178040" y="322783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7" name="Text 91"/>
          <p:cNvSpPr/>
          <p:nvPr/>
        </p:nvSpPr>
        <p:spPr>
          <a:xfrm>
            <a:off x="717804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9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3566160"/>
            <a:ext cx="292608" cy="292608"/>
          </a:xfrm>
          <a:prstGeom prst="rect">
            <a:avLst/>
          </a:prstGeom>
        </p:spPr>
      </p:pic>
      <p:sp>
        <p:nvSpPr>
          <p:cNvPr id="99" name="Text 92"/>
          <p:cNvSpPr/>
          <p:nvPr/>
        </p:nvSpPr>
        <p:spPr>
          <a:xfrm>
            <a:off x="667512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000" dirty="0"/>
          </a:p>
        </p:txBody>
      </p:sp>
      <p:sp>
        <p:nvSpPr>
          <p:cNvPr id="100" name="Text 93"/>
          <p:cNvSpPr/>
          <p:nvPr/>
        </p:nvSpPr>
        <p:spPr>
          <a:xfrm>
            <a:off x="667512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document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humans own quality</a:t>
            </a:r>
            <a:endParaRPr lang="en-US" sz="800" dirty="0"/>
          </a:p>
        </p:txBody>
      </p:sp>
      <p:sp>
        <p:nvSpPr>
          <p:cNvPr id="101" name="Shape 94"/>
          <p:cNvSpPr/>
          <p:nvPr/>
        </p:nvSpPr>
        <p:spPr>
          <a:xfrm>
            <a:off x="4709160" y="322783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2" name="Text 95"/>
          <p:cNvSpPr/>
          <p:nvPr/>
        </p:nvSpPr>
        <p:spPr>
          <a:xfrm>
            <a:off x="470916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10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3566160"/>
            <a:ext cx="292608" cy="292608"/>
          </a:xfrm>
          <a:prstGeom prst="rect">
            <a:avLst/>
          </a:prstGeom>
        </p:spPr>
      </p:pic>
      <p:sp>
        <p:nvSpPr>
          <p:cNvPr id="104" name="Text 96"/>
          <p:cNvSpPr/>
          <p:nvPr/>
        </p:nvSpPr>
        <p:spPr>
          <a:xfrm>
            <a:off x="42062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000" dirty="0"/>
          </a:p>
        </p:txBody>
      </p:sp>
      <p:sp>
        <p:nvSpPr>
          <p:cNvPr id="105" name="Text 97"/>
          <p:cNvSpPr/>
          <p:nvPr/>
        </p:nvSpPr>
        <p:spPr>
          <a:xfrm>
            <a:off x="420624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Review Board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 approve</a:t>
            </a:r>
            <a:endParaRPr lang="en-US" sz="800" dirty="0"/>
          </a:p>
        </p:txBody>
      </p:sp>
      <p:sp>
        <p:nvSpPr>
          <p:cNvPr id="106" name="Shape 98"/>
          <p:cNvSpPr/>
          <p:nvPr/>
        </p:nvSpPr>
        <p:spPr>
          <a:xfrm>
            <a:off x="2240280" y="3227832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7" name="Text 99"/>
          <p:cNvSpPr/>
          <p:nvPr/>
        </p:nvSpPr>
        <p:spPr>
          <a:xfrm>
            <a:off x="224028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10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3566160"/>
            <a:ext cx="292608" cy="292608"/>
          </a:xfrm>
          <a:prstGeom prst="rect">
            <a:avLst/>
          </a:prstGeom>
        </p:spPr>
      </p:pic>
      <p:sp>
        <p:nvSpPr>
          <p:cNvPr id="109" name="Text 100"/>
          <p:cNvSpPr/>
          <p:nvPr/>
        </p:nvSpPr>
        <p:spPr>
          <a:xfrm>
            <a:off x="17373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Ingestion</a:t>
            </a:r>
            <a:endParaRPr lang="en-US" sz="1000" dirty="0"/>
          </a:p>
        </p:txBody>
      </p:sp>
      <p:sp>
        <p:nvSpPr>
          <p:cNvPr id="110" name="Text 101"/>
          <p:cNvSpPr/>
          <p:nvPr/>
        </p:nvSpPr>
        <p:spPr>
          <a:xfrm>
            <a:off x="17373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formatted for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Phase 2</a:t>
            </a:r>
            <a:endParaRPr lang="en-US" sz="800" dirty="0"/>
          </a:p>
        </p:txBody>
      </p:sp>
      <p:pic>
        <p:nvPicPr>
          <p:cNvPr id="1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1892808"/>
            <a:ext cx="182880" cy="182880"/>
          </a:xfrm>
          <a:prstGeom prst="rect">
            <a:avLst/>
          </a:prstGeom>
        </p:spPr>
      </p:pic>
      <p:pic>
        <p:nvPicPr>
          <p:cNvPr id="1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3227832"/>
            <a:ext cx="256032" cy="256032"/>
          </a:xfrm>
          <a:prstGeom prst="rect">
            <a:avLst/>
          </a:prstGeom>
        </p:spPr>
      </p:pic>
      <p:sp>
        <p:nvSpPr>
          <p:cNvPr id="113" name="Text 102"/>
          <p:cNvSpPr/>
          <p:nvPr/>
        </p:nvSpPr>
        <p:spPr>
          <a:xfrm>
            <a:off x="22860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700" dirty="0"/>
          </a:p>
        </p:txBody>
      </p:sp>
      <p:sp>
        <p:nvSpPr>
          <p:cNvPr id="114" name="Shape 103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5" name="Text 104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116" name="Text 105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·  DEVELOPMENT SPRINTS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274320"/>
            <a:ext cx="82296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274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1554480" cy="20116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274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 + 2 COBOL Devs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530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Epic Per Week. AI-Powered. Human-Validated.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229600" cy="21945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1328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9339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49424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05456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9584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785616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41648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5371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9744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065776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21808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557784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83387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9904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5936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6601968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11403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0064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7626096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7"/>
          <p:cNvSpPr/>
          <p:nvPr/>
        </p:nvSpPr>
        <p:spPr>
          <a:xfrm>
            <a:off x="7882128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8160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8394192" y="205740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1188720" y="1947672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118872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914400"/>
            <a:ext cx="320040" cy="3200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31520" y="1252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31520" y="1572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Analysis Agent (WCA4Z)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detailed 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for the Epic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788920" y="1947672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Text 45"/>
          <p:cNvSpPr/>
          <p:nvPr/>
        </p:nvSpPr>
        <p:spPr>
          <a:xfrm>
            <a:off x="278892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286000"/>
            <a:ext cx="320040" cy="32004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2331720" y="2624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233172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divides Epic into 10-15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stories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success criteria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389120" y="194767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3" name="Text 49"/>
          <p:cNvSpPr/>
          <p:nvPr/>
        </p:nvSpPr>
        <p:spPr>
          <a:xfrm>
            <a:off x="438912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914400"/>
            <a:ext cx="320040" cy="32004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3931920" y="1252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3931920" y="1572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 checks every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for completeness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corrects issues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5989320" y="194767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8" name="Text 53"/>
          <p:cNvSpPr/>
          <p:nvPr/>
        </p:nvSpPr>
        <p:spPr>
          <a:xfrm>
            <a:off x="598932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286000"/>
            <a:ext cx="320040" cy="320040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5532120" y="2624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Sprint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553212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AI generates code,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review &amp; unit 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Full testing</a:t>
            </a:r>
            <a:endParaRPr lang="en-US" sz="750" dirty="0"/>
          </a:p>
        </p:txBody>
      </p:sp>
      <p:sp>
        <p:nvSpPr>
          <p:cNvPr id="62" name="Shape 56"/>
          <p:cNvSpPr/>
          <p:nvPr/>
        </p:nvSpPr>
        <p:spPr>
          <a:xfrm>
            <a:off x="7589520" y="194767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57"/>
          <p:cNvSpPr/>
          <p:nvPr/>
        </p:nvSpPr>
        <p:spPr>
          <a:xfrm>
            <a:off x="758952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914400"/>
            <a:ext cx="320040" cy="320040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7132320" y="1252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Sign Off</a:t>
            </a:r>
            <a:endParaRPr lang="en-US" sz="1000" dirty="0"/>
          </a:p>
        </p:txBody>
      </p:sp>
      <p:sp>
        <p:nvSpPr>
          <p:cNvPr id="66" name="Text 59"/>
          <p:cNvSpPr/>
          <p:nvPr/>
        </p:nvSpPr>
        <p:spPr>
          <a:xfrm>
            <a:off x="7132320" y="1572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drives UAT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formally accepted.</a:t>
            </a:r>
            <a:endParaRPr lang="en-US" sz="75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1984248"/>
            <a:ext cx="182880" cy="182880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1947672"/>
            <a:ext cx="256032" cy="256032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813816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700" dirty="0"/>
          </a:p>
        </p:txBody>
      </p:sp>
      <p:sp>
        <p:nvSpPr>
          <p:cNvPr id="70" name="Shape 61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Shape 62"/>
          <p:cNvSpPr/>
          <p:nvPr/>
        </p:nvSpPr>
        <p:spPr>
          <a:xfrm>
            <a:off x="731520" y="3383280"/>
            <a:ext cx="768096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Text 63"/>
          <p:cNvSpPr/>
          <p:nvPr/>
        </p:nvSpPr>
        <p:spPr>
          <a:xfrm>
            <a:off x="868680" y="34381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TIMELINE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86868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Text 65"/>
          <p:cNvSpPr/>
          <p:nvPr/>
        </p:nvSpPr>
        <p:spPr>
          <a:xfrm>
            <a:off x="86868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800" dirty="0"/>
          </a:p>
        </p:txBody>
      </p:sp>
      <p:sp>
        <p:nvSpPr>
          <p:cNvPr id="75" name="Shape 66"/>
          <p:cNvSpPr/>
          <p:nvPr/>
        </p:nvSpPr>
        <p:spPr>
          <a:xfrm>
            <a:off x="148590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Text 67"/>
          <p:cNvSpPr/>
          <p:nvPr/>
        </p:nvSpPr>
        <p:spPr>
          <a:xfrm>
            <a:off x="148590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800" dirty="0"/>
          </a:p>
        </p:txBody>
      </p:sp>
      <p:sp>
        <p:nvSpPr>
          <p:cNvPr id="77" name="Shape 68"/>
          <p:cNvSpPr/>
          <p:nvPr/>
        </p:nvSpPr>
        <p:spPr>
          <a:xfrm>
            <a:off x="210312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8" name="Text 69"/>
          <p:cNvSpPr/>
          <p:nvPr/>
        </p:nvSpPr>
        <p:spPr>
          <a:xfrm>
            <a:off x="210312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800" dirty="0"/>
          </a:p>
        </p:txBody>
      </p:sp>
      <p:sp>
        <p:nvSpPr>
          <p:cNvPr id="79" name="Shape 70"/>
          <p:cNvSpPr/>
          <p:nvPr/>
        </p:nvSpPr>
        <p:spPr>
          <a:xfrm>
            <a:off x="272034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0" name="Text 71"/>
          <p:cNvSpPr/>
          <p:nvPr/>
        </p:nvSpPr>
        <p:spPr>
          <a:xfrm>
            <a:off x="272034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800" dirty="0"/>
          </a:p>
        </p:txBody>
      </p:sp>
      <p:sp>
        <p:nvSpPr>
          <p:cNvPr id="81" name="Shape 72"/>
          <p:cNvSpPr/>
          <p:nvPr/>
        </p:nvSpPr>
        <p:spPr>
          <a:xfrm>
            <a:off x="333756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2" name="Text 73"/>
          <p:cNvSpPr/>
          <p:nvPr/>
        </p:nvSpPr>
        <p:spPr>
          <a:xfrm>
            <a:off x="333756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800" dirty="0"/>
          </a:p>
        </p:txBody>
      </p:sp>
      <p:sp>
        <p:nvSpPr>
          <p:cNvPr id="83" name="Shape 74"/>
          <p:cNvSpPr/>
          <p:nvPr/>
        </p:nvSpPr>
        <p:spPr>
          <a:xfrm>
            <a:off x="395478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Text 75"/>
          <p:cNvSpPr/>
          <p:nvPr/>
        </p:nvSpPr>
        <p:spPr>
          <a:xfrm>
            <a:off x="395478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800" dirty="0"/>
          </a:p>
        </p:txBody>
      </p:sp>
      <p:sp>
        <p:nvSpPr>
          <p:cNvPr id="85" name="Shape 76"/>
          <p:cNvSpPr/>
          <p:nvPr/>
        </p:nvSpPr>
        <p:spPr>
          <a:xfrm>
            <a:off x="457200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6" name="Text 77"/>
          <p:cNvSpPr/>
          <p:nvPr/>
        </p:nvSpPr>
        <p:spPr>
          <a:xfrm>
            <a:off x="457200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800" dirty="0"/>
          </a:p>
        </p:txBody>
      </p:sp>
      <p:sp>
        <p:nvSpPr>
          <p:cNvPr id="87" name="Shape 78"/>
          <p:cNvSpPr/>
          <p:nvPr/>
        </p:nvSpPr>
        <p:spPr>
          <a:xfrm>
            <a:off x="518922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8" name="Text 79"/>
          <p:cNvSpPr/>
          <p:nvPr/>
        </p:nvSpPr>
        <p:spPr>
          <a:xfrm>
            <a:off x="518922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800" dirty="0"/>
          </a:p>
        </p:txBody>
      </p:sp>
      <p:sp>
        <p:nvSpPr>
          <p:cNvPr id="89" name="Shape 80"/>
          <p:cNvSpPr/>
          <p:nvPr/>
        </p:nvSpPr>
        <p:spPr>
          <a:xfrm>
            <a:off x="5806440" y="3639312"/>
            <a:ext cx="58064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0" name="Text 81"/>
          <p:cNvSpPr/>
          <p:nvPr/>
        </p:nvSpPr>
        <p:spPr>
          <a:xfrm>
            <a:off x="580644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800" dirty="0"/>
          </a:p>
        </p:txBody>
      </p:sp>
      <p:sp>
        <p:nvSpPr>
          <p:cNvPr id="91" name="Shape 82"/>
          <p:cNvSpPr/>
          <p:nvPr/>
        </p:nvSpPr>
        <p:spPr>
          <a:xfrm>
            <a:off x="6423660" y="3639312"/>
            <a:ext cx="580644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2" name="Text 83"/>
          <p:cNvSpPr/>
          <p:nvPr/>
        </p:nvSpPr>
        <p:spPr>
          <a:xfrm>
            <a:off x="642366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93" name="Shape 84"/>
          <p:cNvSpPr/>
          <p:nvPr/>
        </p:nvSpPr>
        <p:spPr>
          <a:xfrm>
            <a:off x="7040880" y="3639312"/>
            <a:ext cx="580644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4" name="Text 85"/>
          <p:cNvSpPr/>
          <p:nvPr/>
        </p:nvSpPr>
        <p:spPr>
          <a:xfrm>
            <a:off x="704088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95" name="Shape 86"/>
          <p:cNvSpPr/>
          <p:nvPr/>
        </p:nvSpPr>
        <p:spPr>
          <a:xfrm>
            <a:off x="7658100" y="3639312"/>
            <a:ext cx="580644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6" name="Text 87"/>
          <p:cNvSpPr/>
          <p:nvPr/>
        </p:nvSpPr>
        <p:spPr>
          <a:xfrm>
            <a:off x="7658100" y="3639312"/>
            <a:ext cx="580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</p:txBody>
      </p:sp>
      <p:sp>
        <p:nvSpPr>
          <p:cNvPr id="97" name="Shape 88"/>
          <p:cNvSpPr/>
          <p:nvPr/>
        </p:nvSpPr>
        <p:spPr>
          <a:xfrm>
            <a:off x="868680" y="3913632"/>
            <a:ext cx="1371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8" name="Text 89"/>
          <p:cNvSpPr/>
          <p:nvPr/>
        </p:nvSpPr>
        <p:spPr>
          <a:xfrm>
            <a:off x="1051560" y="389534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sprints (1 per week)</a:t>
            </a:r>
            <a:endParaRPr lang="en-US" sz="800" dirty="0"/>
          </a:p>
        </p:txBody>
      </p:sp>
      <p:sp>
        <p:nvSpPr>
          <p:cNvPr id="99" name="Shape 90"/>
          <p:cNvSpPr/>
          <p:nvPr/>
        </p:nvSpPr>
        <p:spPr>
          <a:xfrm>
            <a:off x="2926080" y="3913632"/>
            <a:ext cx="13716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0" name="Text 91"/>
          <p:cNvSpPr/>
          <p:nvPr/>
        </p:nvSpPr>
        <p:spPr>
          <a:xfrm>
            <a:off x="3108960" y="389534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&amp; hardening</a:t>
            </a:r>
            <a:endParaRPr lang="en-US" sz="800" dirty="0"/>
          </a:p>
        </p:txBody>
      </p:sp>
      <p:sp>
        <p:nvSpPr>
          <p:cNvPr id="101" name="Shape 92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2" name="Text 93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103" name="Text 94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·  CONFIRMATION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274320"/>
            <a:ext cx="82296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274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530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Works Before Anything Switches Off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229600" cy="21945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1225296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1328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99339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49424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05456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61488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7355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29584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5616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041648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9744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65776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5321808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57784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83387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9904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345936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601968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711403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7370064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626096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882128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8138160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7"/>
          <p:cNvSpPr/>
          <p:nvPr/>
        </p:nvSpPr>
        <p:spPr>
          <a:xfrm>
            <a:off x="8394192" y="164592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8375904" y="1773936"/>
            <a:ext cx="219456" cy="124358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" y="3017520"/>
            <a:ext cx="8229600" cy="21945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71323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969264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5" name="Shape 43"/>
          <p:cNvSpPr/>
          <p:nvPr/>
        </p:nvSpPr>
        <p:spPr>
          <a:xfrm>
            <a:off x="1225296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6" name="Shape 44"/>
          <p:cNvSpPr/>
          <p:nvPr/>
        </p:nvSpPr>
        <p:spPr>
          <a:xfrm>
            <a:off x="1481328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173736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8" name="Shape 46"/>
          <p:cNvSpPr/>
          <p:nvPr/>
        </p:nvSpPr>
        <p:spPr>
          <a:xfrm>
            <a:off x="199339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9" name="Shape 47"/>
          <p:cNvSpPr/>
          <p:nvPr/>
        </p:nvSpPr>
        <p:spPr>
          <a:xfrm>
            <a:off x="2249424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0" name="Shape 48"/>
          <p:cNvSpPr/>
          <p:nvPr/>
        </p:nvSpPr>
        <p:spPr>
          <a:xfrm>
            <a:off x="2505456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9"/>
          <p:cNvSpPr/>
          <p:nvPr/>
        </p:nvSpPr>
        <p:spPr>
          <a:xfrm>
            <a:off x="2761488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301752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3" name="Shape 51"/>
          <p:cNvSpPr/>
          <p:nvPr/>
        </p:nvSpPr>
        <p:spPr>
          <a:xfrm>
            <a:off x="327355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4" name="Shape 52"/>
          <p:cNvSpPr/>
          <p:nvPr/>
        </p:nvSpPr>
        <p:spPr>
          <a:xfrm>
            <a:off x="3529584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5" name="Shape 53"/>
          <p:cNvSpPr/>
          <p:nvPr/>
        </p:nvSpPr>
        <p:spPr>
          <a:xfrm>
            <a:off x="3785616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6" name="Shape 54"/>
          <p:cNvSpPr/>
          <p:nvPr/>
        </p:nvSpPr>
        <p:spPr>
          <a:xfrm>
            <a:off x="4041648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7" name="Shape 55"/>
          <p:cNvSpPr/>
          <p:nvPr/>
        </p:nvSpPr>
        <p:spPr>
          <a:xfrm>
            <a:off x="429768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8" name="Shape 56"/>
          <p:cNvSpPr/>
          <p:nvPr/>
        </p:nvSpPr>
        <p:spPr>
          <a:xfrm>
            <a:off x="455371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9" name="Shape 57"/>
          <p:cNvSpPr/>
          <p:nvPr/>
        </p:nvSpPr>
        <p:spPr>
          <a:xfrm>
            <a:off x="4809744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0" name="Shape 58"/>
          <p:cNvSpPr/>
          <p:nvPr/>
        </p:nvSpPr>
        <p:spPr>
          <a:xfrm>
            <a:off x="5065776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1" name="Shape 59"/>
          <p:cNvSpPr/>
          <p:nvPr/>
        </p:nvSpPr>
        <p:spPr>
          <a:xfrm>
            <a:off x="5321808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2" name="Shape 60"/>
          <p:cNvSpPr/>
          <p:nvPr/>
        </p:nvSpPr>
        <p:spPr>
          <a:xfrm>
            <a:off x="557784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3" name="Shape 61"/>
          <p:cNvSpPr/>
          <p:nvPr/>
        </p:nvSpPr>
        <p:spPr>
          <a:xfrm>
            <a:off x="583387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4" name="Shape 62"/>
          <p:cNvSpPr/>
          <p:nvPr/>
        </p:nvSpPr>
        <p:spPr>
          <a:xfrm>
            <a:off x="6089904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5" name="Shape 63"/>
          <p:cNvSpPr/>
          <p:nvPr/>
        </p:nvSpPr>
        <p:spPr>
          <a:xfrm>
            <a:off x="6345936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6" name="Shape 64"/>
          <p:cNvSpPr/>
          <p:nvPr/>
        </p:nvSpPr>
        <p:spPr>
          <a:xfrm>
            <a:off x="6601968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7" name="Shape 65"/>
          <p:cNvSpPr/>
          <p:nvPr/>
        </p:nvSpPr>
        <p:spPr>
          <a:xfrm>
            <a:off x="685800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8" name="Shape 66"/>
          <p:cNvSpPr/>
          <p:nvPr/>
        </p:nvSpPr>
        <p:spPr>
          <a:xfrm>
            <a:off x="711403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9" name="Shape 67"/>
          <p:cNvSpPr/>
          <p:nvPr/>
        </p:nvSpPr>
        <p:spPr>
          <a:xfrm>
            <a:off x="7370064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0" name="Shape 68"/>
          <p:cNvSpPr/>
          <p:nvPr/>
        </p:nvSpPr>
        <p:spPr>
          <a:xfrm>
            <a:off x="7626096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1" name="Shape 69"/>
          <p:cNvSpPr/>
          <p:nvPr/>
        </p:nvSpPr>
        <p:spPr>
          <a:xfrm>
            <a:off x="7882128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2" name="Shape 70"/>
          <p:cNvSpPr/>
          <p:nvPr/>
        </p:nvSpPr>
        <p:spPr>
          <a:xfrm>
            <a:off x="8138160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3" name="Shape 71"/>
          <p:cNvSpPr/>
          <p:nvPr/>
        </p:nvSpPr>
        <p:spPr>
          <a:xfrm>
            <a:off x="8394192" y="3108960"/>
            <a:ext cx="137160" cy="3657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4" name="Shape 72"/>
          <p:cNvSpPr/>
          <p:nvPr/>
        </p:nvSpPr>
        <p:spPr>
          <a:xfrm>
            <a:off x="2788920" y="153619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5" name="Text 73"/>
          <p:cNvSpPr/>
          <p:nvPr/>
        </p:nvSpPr>
        <p:spPr>
          <a:xfrm>
            <a:off x="278892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685800"/>
            <a:ext cx="320040" cy="320040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2286000" y="10241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228600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system deployed alongside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Both running in parallel.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6446520" y="153619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0" name="Text 77"/>
          <p:cNvSpPr/>
          <p:nvPr/>
        </p:nvSpPr>
        <p:spPr>
          <a:xfrm>
            <a:off x="644652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8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685800"/>
            <a:ext cx="320040" cy="320040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5943600" y="10241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Prod Data</a:t>
            </a:r>
            <a:endParaRPr lang="en-US" sz="1000" dirty="0"/>
          </a:p>
        </p:txBody>
      </p:sp>
      <p:sp>
        <p:nvSpPr>
          <p:cNvPr id="83" name="Text 79"/>
          <p:cNvSpPr/>
          <p:nvPr/>
        </p:nvSpPr>
        <p:spPr>
          <a:xfrm>
            <a:off x="594360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real prod data.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compared against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system.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6446520" y="299923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5" name="Text 81"/>
          <p:cNvSpPr/>
          <p:nvPr/>
        </p:nvSpPr>
        <p:spPr>
          <a:xfrm>
            <a:off x="644652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8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337560"/>
            <a:ext cx="320040" cy="320040"/>
          </a:xfrm>
          <a:prstGeom prst="rect">
            <a:avLst/>
          </a:prstGeom>
        </p:spPr>
      </p:pic>
      <p:sp>
        <p:nvSpPr>
          <p:cNvPr id="87" name="Text 82"/>
          <p:cNvSpPr/>
          <p:nvPr/>
        </p:nvSpPr>
        <p:spPr>
          <a:xfrm>
            <a:off x="5943600" y="3685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&amp; Fix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</a:t>
            </a:r>
            <a:endParaRPr lang="en-US" sz="1000" dirty="0"/>
          </a:p>
        </p:txBody>
      </p:sp>
      <p:sp>
        <p:nvSpPr>
          <p:cNvPr id="88" name="Text 83"/>
          <p:cNvSpPr/>
          <p:nvPr/>
        </p:nvSpPr>
        <p:spPr>
          <a:xfrm>
            <a:off x="5943600" y="3959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mismatch identified,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investigated, resolved.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exceptions.</a:t>
            </a:r>
            <a:endParaRPr lang="en-US" sz="800" dirty="0"/>
          </a:p>
        </p:txBody>
      </p:sp>
      <p:sp>
        <p:nvSpPr>
          <p:cNvPr id="89" name="Shape 84"/>
          <p:cNvSpPr/>
          <p:nvPr/>
        </p:nvSpPr>
        <p:spPr>
          <a:xfrm>
            <a:off x="2788920" y="299923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0" name="Text 85"/>
          <p:cNvSpPr/>
          <p:nvPr/>
        </p:nvSpPr>
        <p:spPr>
          <a:xfrm>
            <a:off x="278892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9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337560"/>
            <a:ext cx="320040" cy="320040"/>
          </a:xfrm>
          <a:prstGeom prst="rect">
            <a:avLst/>
          </a:prstGeom>
        </p:spPr>
      </p:pic>
      <p:sp>
        <p:nvSpPr>
          <p:cNvPr id="92" name="Text 86"/>
          <p:cNvSpPr/>
          <p:nvPr/>
        </p:nvSpPr>
        <p:spPr>
          <a:xfrm>
            <a:off x="2286000" y="3685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</a:t>
            </a:r>
            <a:endParaRPr lang="en-US" sz="1000" dirty="0"/>
          </a:p>
        </p:txBody>
      </p:sp>
      <p:sp>
        <p:nvSpPr>
          <p:cNvPr id="93" name="Text 87"/>
          <p:cNvSpPr/>
          <p:nvPr/>
        </p:nvSpPr>
        <p:spPr>
          <a:xfrm>
            <a:off x="2286000" y="3959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months clean run 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system off.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takes full load.</a:t>
            </a:r>
            <a:endParaRPr lang="en-US" sz="800" dirty="0"/>
          </a:p>
        </p:txBody>
      </p:sp>
      <p:pic>
        <p:nvPicPr>
          <p:cNvPr id="9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72768"/>
            <a:ext cx="182880" cy="182880"/>
          </a:xfrm>
          <a:prstGeom prst="rect">
            <a:avLst/>
          </a:prstGeom>
        </p:spPr>
      </p:pic>
      <p:pic>
        <p:nvPicPr>
          <p:cNvPr id="9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999232"/>
            <a:ext cx="256032" cy="256032"/>
          </a:xfrm>
          <a:prstGeom prst="rect">
            <a:avLst/>
          </a:prstGeom>
        </p:spPr>
      </p:pic>
      <p:sp>
        <p:nvSpPr>
          <p:cNvPr id="96" name="Text 88"/>
          <p:cNvSpPr/>
          <p:nvPr/>
        </p:nvSpPr>
        <p:spPr>
          <a:xfrm>
            <a:off x="320040" y="3291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97" name="Shape 89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8" name="Text 90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99" name="Text 91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Principles. Fundamentally Different Speed.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46304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280160"/>
            <a:ext cx="201168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280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Orthodox Agile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2011680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280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Factory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19456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2801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591056"/>
            <a:ext cx="14630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5910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Length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1591056"/>
            <a:ext cx="2011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2267712" y="1591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591056"/>
            <a:ext cx="2011680" cy="31089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1591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591056"/>
            <a:ext cx="21945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5910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more delivery cycles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1901952"/>
            <a:ext cx="1463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1901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Creation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1901952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267712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writes manually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1901952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279392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shards from Epic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901952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1901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effort reduced to hours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2212848"/>
            <a:ext cx="14630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2212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Quality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2212848"/>
            <a:ext cx="2011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2267712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BA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06240" y="2212848"/>
            <a:ext cx="2011680" cy="31089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3" name="Text 31"/>
          <p:cNvSpPr/>
          <p:nvPr/>
        </p:nvSpPr>
        <p:spPr>
          <a:xfrm>
            <a:off x="4279392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Agent validates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212848"/>
            <a:ext cx="21945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91072" y="22128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 every time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2523744"/>
            <a:ext cx="1463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" y="2523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94560" y="2523744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267712" y="2523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writes from scratch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06240" y="2523744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279392" y="2523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generates, dev reviews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523744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25237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becomes reviewer, not coder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2834640"/>
            <a:ext cx="14630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" y="2834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94560" y="2834640"/>
            <a:ext cx="2011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2267712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writing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2834640"/>
            <a:ext cx="2011680" cy="31089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9" name="Text 47"/>
          <p:cNvSpPr/>
          <p:nvPr/>
        </p:nvSpPr>
        <p:spPr>
          <a:xfrm>
            <a:off x="4279392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from criteria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2834640"/>
            <a:ext cx="21945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6291072" y="2834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 between built and tested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0" y="3145536"/>
            <a:ext cx="1463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94560" y="3145536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267712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Afterthought, often skipped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206240" y="3145536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279392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3145536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291072" y="3145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captured as you go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" y="3456432"/>
            <a:ext cx="14630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804672" y="34564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Cycle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194560" y="3456432"/>
            <a:ext cx="2011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2267712" y="3456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206240" y="3456432"/>
            <a:ext cx="2011680" cy="31089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5" name="Text 63"/>
          <p:cNvSpPr/>
          <p:nvPr/>
        </p:nvSpPr>
        <p:spPr>
          <a:xfrm>
            <a:off x="4279392" y="3456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3456432"/>
            <a:ext cx="21945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7" name="Text 65"/>
          <p:cNvSpPr/>
          <p:nvPr/>
        </p:nvSpPr>
        <p:spPr>
          <a:xfrm>
            <a:off x="6291072" y="3456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business function weekly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1520" y="3767328"/>
            <a:ext cx="14630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04672" y="3767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194560" y="3767328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2267712" y="3767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late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206240" y="3767328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279392" y="3767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early, fixed fast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3767328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6291072" y="3767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surprises in month 6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1520" y="4078224"/>
            <a:ext cx="146304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7" name="Text 75"/>
          <p:cNvSpPr/>
          <p:nvPr/>
        </p:nvSpPr>
        <p:spPr>
          <a:xfrm>
            <a:off x="804672" y="4078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194560" y="4078224"/>
            <a:ext cx="2011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9" name="Text 77"/>
          <p:cNvSpPr/>
          <p:nvPr/>
        </p:nvSpPr>
        <p:spPr>
          <a:xfrm>
            <a:off x="2267712" y="4078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discipline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206240" y="4078224"/>
            <a:ext cx="2011680" cy="31089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81" name="Text 79"/>
          <p:cNvSpPr/>
          <p:nvPr/>
        </p:nvSpPr>
        <p:spPr>
          <a:xfrm>
            <a:off x="4279392" y="4078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GitLab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4078224"/>
            <a:ext cx="21945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3" name="Text 81"/>
          <p:cNvSpPr/>
          <p:nvPr/>
        </p:nvSpPr>
        <p:spPr>
          <a:xfrm>
            <a:off x="6291072" y="40782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from day one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31520" y="443484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5" name="Text 83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0292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Mainframe Modernization Factory - Process</dc:title>
  <dc:subject>PptxGenJS Presentation</dc:subject>
  <dc:creator>Infosys</dc:creator>
  <cp:lastModifiedBy>Infosys</cp:lastModifiedBy>
  <cp:revision>1</cp:revision>
  <dcterms:created xsi:type="dcterms:W3CDTF">2026-02-17T17:20:12Z</dcterms:created>
  <dcterms:modified xsi:type="dcterms:W3CDTF">2026-02-17T17:20:12Z</dcterms:modified>
</cp:coreProperties>
</file>