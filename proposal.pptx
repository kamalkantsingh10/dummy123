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Mainframe Modernization Factory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Z-Abacus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an AI-Powered Modernization Engine — Together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42900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03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Faster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One-third the usual effort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703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88620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estate retirement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033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62940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traceable, audit-ready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" y="443484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Text 12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02920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Solid 30 Years Ago. Every Year Since Has Added Risk.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583680" y="3840480"/>
            <a:ext cx="502920" cy="164592"/>
          </a:xfrm>
          <a:prstGeom prst="rect">
            <a:avLst/>
          </a:prstGeom>
          <a:solidFill>
            <a:srgbClr val="D4A574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14032" y="3840480"/>
            <a:ext cx="502920" cy="164592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4384" y="3840480"/>
            <a:ext cx="502920" cy="164592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3657600"/>
            <a:ext cx="502920" cy="164592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4032" y="3657600"/>
            <a:ext cx="502920" cy="164592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44384" y="3657600"/>
            <a:ext cx="502920" cy="164592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474720"/>
            <a:ext cx="502920" cy="164592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4032" y="3474720"/>
            <a:ext cx="502920" cy="164592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44384" y="3474720"/>
            <a:ext cx="502920" cy="164592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3291840"/>
            <a:ext cx="502920" cy="164592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3291840"/>
            <a:ext cx="502920" cy="164592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44384" y="3291840"/>
            <a:ext cx="502920" cy="164592"/>
          </a:xfrm>
          <a:prstGeom prst="rect">
            <a:avLst/>
          </a:prstGeom>
          <a:solidFill>
            <a:srgbClr val="D2B48C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108960"/>
            <a:ext cx="502920" cy="164592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4032" y="3108960"/>
            <a:ext cx="502920" cy="164592"/>
          </a:xfrm>
          <a:prstGeom prst="rect">
            <a:avLst/>
          </a:prstGeom>
          <a:solidFill>
            <a:srgbClr val="D2B48C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44384" y="3108960"/>
            <a:ext cx="502920" cy="164592"/>
          </a:xfrm>
          <a:prstGeom prst="rect">
            <a:avLst/>
          </a:prstGeom>
          <a:solidFill>
            <a:srgbClr val="C8A97E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2926080"/>
            <a:ext cx="502920" cy="164592"/>
          </a:xfrm>
          <a:prstGeom prst="rect">
            <a:avLst/>
          </a:prstGeom>
          <a:solidFill>
            <a:srgbClr val="D2B48C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6096" y="2926080"/>
            <a:ext cx="502920" cy="164592"/>
          </a:xfrm>
          <a:prstGeom prst="rect">
            <a:avLst/>
          </a:prstGeom>
          <a:solidFill>
            <a:srgbClr val="D4A574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6248" y="2743200"/>
            <a:ext cx="502920" cy="164592"/>
          </a:xfrm>
          <a:prstGeom prst="rect">
            <a:avLst/>
          </a:prstGeom>
          <a:solidFill>
            <a:srgbClr val="C8A97E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14032" y="2743200"/>
            <a:ext cx="502920" cy="164592"/>
          </a:xfrm>
          <a:prstGeom prst="rect">
            <a:avLst/>
          </a:prstGeom>
          <a:solidFill>
            <a:srgbClr val="D4A574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71816" y="2743200"/>
            <a:ext cx="502920" cy="164592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2560320"/>
            <a:ext cx="502920" cy="164592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2560320"/>
            <a:ext cx="502920" cy="164592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0256" y="2377440"/>
            <a:ext cx="502920" cy="164592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2377440"/>
            <a:ext cx="502920" cy="164592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44384" y="2377440"/>
            <a:ext cx="502920" cy="164592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2194560"/>
            <a:ext cx="502920" cy="164592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16952" y="2194560"/>
            <a:ext cx="502920" cy="164592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38544" y="2011680"/>
            <a:ext cx="502920" cy="164592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0608" y="2011680"/>
            <a:ext cx="502920" cy="164592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78040" y="1828800"/>
            <a:ext cx="502920" cy="164592"/>
          </a:xfrm>
          <a:prstGeom prst="rect">
            <a:avLst/>
          </a:prstGeom>
          <a:solidFill>
            <a:srgbClr val="E74C3C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years ago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" y="1600200"/>
            <a:ext cx="530352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1600200"/>
            <a:ext cx="45720" cy="5486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09928"/>
            <a:ext cx="274320" cy="27432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371600" y="1645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Technology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371600" y="1874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systems on aging platforms that fewer people understand each year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31520" y="2258568"/>
            <a:ext cx="530352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4" name="Shape 41"/>
          <p:cNvSpPr/>
          <p:nvPr/>
        </p:nvSpPr>
        <p:spPr>
          <a:xfrm>
            <a:off x="731520" y="2258568"/>
            <a:ext cx="45720" cy="5486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368296"/>
            <a:ext cx="274320" cy="27432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1371600" y="23042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Programs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1371600" y="25328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 one knows is still in use — but no one dares remove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731520" y="2916936"/>
            <a:ext cx="530352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9" name="Shape 45"/>
          <p:cNvSpPr/>
          <p:nvPr/>
        </p:nvSpPr>
        <p:spPr>
          <a:xfrm>
            <a:off x="731520" y="2916936"/>
            <a:ext cx="45720" cy="5486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26664"/>
            <a:ext cx="274320" cy="274320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1371600" y="29626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 Missing Documentation</a:t>
            </a:r>
            <a:endParaRPr lang="en-US" sz="1300" dirty="0"/>
          </a:p>
        </p:txBody>
      </p:sp>
      <p:sp>
        <p:nvSpPr>
          <p:cNvPr id="52" name="Text 47"/>
          <p:cNvSpPr/>
          <p:nvPr/>
        </p:nvSpPr>
        <p:spPr>
          <a:xfrm>
            <a:off x="1371600" y="31912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is often outdated, incomplete, or simply incorrect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731520" y="3575304"/>
            <a:ext cx="530352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54" name="Shape 49"/>
          <p:cNvSpPr/>
          <p:nvPr/>
        </p:nvSpPr>
        <p:spPr>
          <a:xfrm>
            <a:off x="731520" y="3575304"/>
            <a:ext cx="45720" cy="5486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685032"/>
            <a:ext cx="274320" cy="274320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1371600" y="362102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Knowledge Gaps</a:t>
            </a:r>
            <a:endParaRPr lang="en-US" sz="1300" dirty="0"/>
          </a:p>
        </p:txBody>
      </p:sp>
      <p:sp>
        <p:nvSpPr>
          <p:cNvPr id="57" name="Text 51"/>
          <p:cNvSpPr/>
          <p:nvPr/>
        </p:nvSpPr>
        <p:spPr>
          <a:xfrm>
            <a:off x="1371600" y="384962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built these systems have moved on. What they knew left with them.</a:t>
            </a:r>
            <a:endParaRPr lang="en-US" sz="1050" dirty="0"/>
          </a:p>
        </p:txBody>
      </p:sp>
      <p:sp>
        <p:nvSpPr>
          <p:cNvPr id="58" name="Shape 52"/>
          <p:cNvSpPr/>
          <p:nvPr/>
        </p:nvSpPr>
        <p:spPr>
          <a:xfrm>
            <a:off x="731520" y="4160520"/>
            <a:ext cx="5303520" cy="914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51960"/>
            <a:ext cx="182880" cy="182880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1005840" y="4224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stable. And it compounds every quarter.</a:t>
            </a:r>
            <a:endParaRPr lang="en-US" sz="1100" dirty="0"/>
          </a:p>
        </p:txBody>
      </p:sp>
      <p:sp>
        <p:nvSpPr>
          <p:cNvPr id="61" name="Shape 54"/>
          <p:cNvSpPr/>
          <p:nvPr/>
        </p:nvSpPr>
        <p:spPr>
          <a:xfrm>
            <a:off x="731520" y="443484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2" name="Text 55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63" name="Text 56"/>
          <p:cNvSpPr/>
          <p:nvPr/>
        </p:nvSpPr>
        <p:spPr>
          <a:xfrm>
            <a:off x="502920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Past Attempt Stalled. Here's Why.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583680" y="3840480"/>
            <a:ext cx="502920" cy="164592"/>
          </a:xfrm>
          <a:prstGeom prst="rect">
            <a:avLst/>
          </a:prstGeom>
          <a:solidFill>
            <a:srgbClr val="D4A574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14032" y="3840480"/>
            <a:ext cx="502920" cy="164592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4384" y="3840480"/>
            <a:ext cx="502920" cy="164592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3657600"/>
            <a:ext cx="502920" cy="164592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4032" y="3657600"/>
            <a:ext cx="502920" cy="164592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44384" y="3657600"/>
            <a:ext cx="502920" cy="164592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474720"/>
            <a:ext cx="502920" cy="164592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4032" y="3474720"/>
            <a:ext cx="502920" cy="164592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44384" y="3474720"/>
            <a:ext cx="502920" cy="164592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3291840"/>
            <a:ext cx="502920" cy="164592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3291840"/>
            <a:ext cx="502920" cy="164592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44384" y="3291840"/>
            <a:ext cx="502920" cy="164592"/>
          </a:xfrm>
          <a:prstGeom prst="rect">
            <a:avLst/>
          </a:prstGeom>
          <a:solidFill>
            <a:srgbClr val="D2B48C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108960"/>
            <a:ext cx="502920" cy="164592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4032" y="3108960"/>
            <a:ext cx="502920" cy="164592"/>
          </a:xfrm>
          <a:prstGeom prst="rect">
            <a:avLst/>
          </a:prstGeom>
          <a:solidFill>
            <a:srgbClr val="D2B48C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44384" y="3108960"/>
            <a:ext cx="502920" cy="164592"/>
          </a:xfrm>
          <a:prstGeom prst="rect">
            <a:avLst/>
          </a:prstGeom>
          <a:solidFill>
            <a:srgbClr val="C8A97E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2926080"/>
            <a:ext cx="502920" cy="164592"/>
          </a:xfrm>
          <a:prstGeom prst="rect">
            <a:avLst/>
          </a:prstGeom>
          <a:solidFill>
            <a:srgbClr val="D2B48C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6096" y="2926080"/>
            <a:ext cx="502920" cy="164592"/>
          </a:xfrm>
          <a:prstGeom prst="rect">
            <a:avLst/>
          </a:prstGeom>
          <a:solidFill>
            <a:srgbClr val="D4A574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6248" y="2743200"/>
            <a:ext cx="502920" cy="164592"/>
          </a:xfrm>
          <a:prstGeom prst="rect">
            <a:avLst/>
          </a:prstGeom>
          <a:solidFill>
            <a:srgbClr val="C8A97E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14032" y="2743200"/>
            <a:ext cx="502920" cy="164592"/>
          </a:xfrm>
          <a:prstGeom prst="rect">
            <a:avLst/>
          </a:prstGeom>
          <a:solidFill>
            <a:srgbClr val="D4A574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71816" y="2743200"/>
            <a:ext cx="502920" cy="164592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2560320"/>
            <a:ext cx="502920" cy="164592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2560320"/>
            <a:ext cx="502920" cy="164592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0256" y="2377440"/>
            <a:ext cx="502920" cy="164592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2377440"/>
            <a:ext cx="502920" cy="164592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44384" y="2377440"/>
            <a:ext cx="502920" cy="164592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2194560"/>
            <a:ext cx="502920" cy="164592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16952" y="2194560"/>
            <a:ext cx="502920" cy="164592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38544" y="2011680"/>
            <a:ext cx="502920" cy="164592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0608" y="2011680"/>
            <a:ext cx="502920" cy="164592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78040" y="1828800"/>
            <a:ext cx="502920" cy="164592"/>
          </a:xfrm>
          <a:prstGeom prst="rect">
            <a:avLst/>
          </a:prstGeom>
          <a:solidFill>
            <a:srgbClr val="E74C3C"/>
          </a:solidFill>
          <a:ln w="6350">
            <a:solidFill>
              <a:srgbClr val="A0845C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560320"/>
            <a:ext cx="457200" cy="4572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66928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 to touch?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31520" y="1371600"/>
            <a:ext cx="530352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5"/>
          <p:cNvSpPr/>
          <p:nvPr/>
        </p:nvSpPr>
        <p:spPr>
          <a:xfrm>
            <a:off x="731520" y="1371600"/>
            <a:ext cx="45720" cy="4754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63040"/>
            <a:ext cx="228600" cy="22860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325880" y="1399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Sheer Scale</a:t>
            </a:r>
            <a:endParaRPr lang="en-US" sz="1250" dirty="0"/>
          </a:p>
        </p:txBody>
      </p:sp>
      <p:sp>
        <p:nvSpPr>
          <p:cNvPr id="41" name="Text 37"/>
          <p:cNvSpPr/>
          <p:nvPr/>
        </p:nvSpPr>
        <p:spPr>
          <a:xfrm>
            <a:off x="1325880" y="160934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applications, ~60 million lines of code. This isn't a project — it's an estate.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731520" y="1938528"/>
            <a:ext cx="530352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Shape 39"/>
          <p:cNvSpPr/>
          <p:nvPr/>
        </p:nvSpPr>
        <p:spPr>
          <a:xfrm>
            <a:off x="731520" y="1938528"/>
            <a:ext cx="45720" cy="4754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29968"/>
            <a:ext cx="228600" cy="22860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1325880" y="19659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</a:t>
            </a:r>
            <a:endParaRPr lang="en-US" sz="1250" dirty="0"/>
          </a:p>
        </p:txBody>
      </p:sp>
      <p:sp>
        <p:nvSpPr>
          <p:cNvPr id="46" name="Text 41"/>
          <p:cNvSpPr/>
          <p:nvPr/>
        </p:nvSpPr>
        <p:spPr>
          <a:xfrm>
            <a:off x="1325880" y="21762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banking operations. If this tower falls, it's reputational damage.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731520" y="2505456"/>
            <a:ext cx="530352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3"/>
          <p:cNvSpPr/>
          <p:nvPr/>
        </p:nvSpPr>
        <p:spPr>
          <a:xfrm>
            <a:off x="731520" y="2505456"/>
            <a:ext cx="45720" cy="4754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596896"/>
            <a:ext cx="228600" cy="22860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1325880" y="25328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Customization</a:t>
            </a:r>
            <a:endParaRPr lang="en-US" sz="1250" dirty="0"/>
          </a:p>
        </p:txBody>
      </p:sp>
      <p:sp>
        <p:nvSpPr>
          <p:cNvPr id="51" name="Text 45"/>
          <p:cNvSpPr/>
          <p:nvPr/>
        </p:nvSpPr>
        <p:spPr>
          <a:xfrm>
            <a:off x="1325880" y="27432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delta macros layered over decades. Nothing is standard anymore.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731520" y="3072384"/>
            <a:ext cx="530352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Shape 47"/>
          <p:cNvSpPr/>
          <p:nvPr/>
        </p:nvSpPr>
        <p:spPr>
          <a:xfrm>
            <a:off x="731520" y="3072384"/>
            <a:ext cx="45720" cy="4754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163824"/>
            <a:ext cx="228600" cy="228600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1325880" y="30998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Interconnected Systems</a:t>
            </a:r>
            <a:endParaRPr lang="en-US" sz="1250" dirty="0"/>
          </a:p>
        </p:txBody>
      </p:sp>
      <p:sp>
        <p:nvSpPr>
          <p:cNvPr id="56" name="Text 49"/>
          <p:cNvSpPr/>
          <p:nvPr/>
        </p:nvSpPr>
        <p:spPr>
          <a:xfrm>
            <a:off x="1325880" y="33101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one piece risks destabilizing others. Every change has a blast radius.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731520" y="3639312"/>
            <a:ext cx="530352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8" name="Shape 51"/>
          <p:cNvSpPr/>
          <p:nvPr/>
        </p:nvSpPr>
        <p:spPr>
          <a:xfrm>
            <a:off x="731520" y="3639312"/>
            <a:ext cx="45720" cy="4754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730752"/>
            <a:ext cx="228600" cy="228600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1325880" y="366674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Documentation to Rely On</a:t>
            </a:r>
            <a:endParaRPr lang="en-US" sz="1250" dirty="0"/>
          </a:p>
        </p:txBody>
      </p:sp>
      <p:sp>
        <p:nvSpPr>
          <p:cNvPr id="61" name="Text 53"/>
          <p:cNvSpPr/>
          <p:nvPr/>
        </p:nvSpPr>
        <p:spPr>
          <a:xfrm>
            <a:off x="1325880" y="387705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safely transform what you don't fully understand.</a:t>
            </a:r>
            <a:endParaRPr lang="en-US" sz="1000" dirty="0"/>
          </a:p>
        </p:txBody>
      </p:sp>
      <p:sp>
        <p:nvSpPr>
          <p:cNvPr id="62" name="Shape 54"/>
          <p:cNvSpPr/>
          <p:nvPr/>
        </p:nvSpPr>
        <p:spPr>
          <a:xfrm>
            <a:off x="731520" y="4160520"/>
            <a:ext cx="530352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3" name="Text 55"/>
          <p:cNvSpPr/>
          <p:nvPr/>
        </p:nvSpPr>
        <p:spPr>
          <a:xfrm>
            <a:off x="731520" y="42245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brute-force this. You need a fundamentally different approach.</a:t>
            </a:r>
            <a:endParaRPr lang="en-US" sz="1100" dirty="0"/>
          </a:p>
        </p:txBody>
      </p:sp>
      <p:sp>
        <p:nvSpPr>
          <p:cNvPr id="64" name="Shape 56"/>
          <p:cNvSpPr/>
          <p:nvPr/>
        </p:nvSpPr>
        <p:spPr>
          <a:xfrm>
            <a:off x="731520" y="443484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5" name="Text 57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66" name="Text 58"/>
          <p:cNvSpPr/>
          <p:nvPr/>
        </p:nvSpPr>
        <p:spPr>
          <a:xfrm>
            <a:off x="502920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Factory That Puts Every Piece Back in Place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566160"/>
            <a:ext cx="377190" cy="123444"/>
          </a:xfrm>
          <a:prstGeom prst="rect">
            <a:avLst/>
          </a:prstGeom>
          <a:solidFill>
            <a:srgbClr val="D4A574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0724" y="3566160"/>
            <a:ext cx="377190" cy="123444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18488" y="3566160"/>
            <a:ext cx="377190" cy="123444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429000"/>
            <a:ext cx="377190" cy="123444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0724" y="3429000"/>
            <a:ext cx="377190" cy="123444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18488" y="3429000"/>
            <a:ext cx="377190" cy="123444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77190" cy="123444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0724" y="3291840"/>
            <a:ext cx="377190" cy="123444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291840"/>
            <a:ext cx="377190" cy="123444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54680"/>
            <a:ext cx="377190" cy="123444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20724" y="3154680"/>
            <a:ext cx="377190" cy="123444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18488" y="3154680"/>
            <a:ext cx="377190" cy="123444"/>
          </a:xfrm>
          <a:prstGeom prst="rect">
            <a:avLst/>
          </a:prstGeom>
          <a:solidFill>
            <a:srgbClr val="D2B48C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017520"/>
            <a:ext cx="377190" cy="123444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20724" y="3017520"/>
            <a:ext cx="377190" cy="123444"/>
          </a:xfrm>
          <a:prstGeom prst="rect">
            <a:avLst/>
          </a:prstGeom>
          <a:solidFill>
            <a:srgbClr val="D2B48C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18488" y="3017520"/>
            <a:ext cx="377190" cy="123444"/>
          </a:xfrm>
          <a:prstGeom prst="rect">
            <a:avLst/>
          </a:prstGeom>
          <a:solidFill>
            <a:srgbClr val="C8A97E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" y="2880360"/>
            <a:ext cx="377190" cy="123444"/>
          </a:xfrm>
          <a:prstGeom prst="rect">
            <a:avLst/>
          </a:prstGeom>
          <a:solidFill>
            <a:srgbClr val="D2B48C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4772" y="2880360"/>
            <a:ext cx="377190" cy="123444"/>
          </a:xfrm>
          <a:prstGeom prst="rect">
            <a:avLst/>
          </a:prstGeom>
          <a:solidFill>
            <a:srgbClr val="D4A574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2386" y="2743200"/>
            <a:ext cx="377190" cy="123444"/>
          </a:xfrm>
          <a:prstGeom prst="rect">
            <a:avLst/>
          </a:prstGeom>
          <a:solidFill>
            <a:srgbClr val="C8A97E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20724" y="2743200"/>
            <a:ext cx="377190" cy="123444"/>
          </a:xfrm>
          <a:prstGeom prst="rect">
            <a:avLst/>
          </a:prstGeom>
          <a:solidFill>
            <a:srgbClr val="D4A574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39062" y="2743200"/>
            <a:ext cx="377190" cy="123444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34440" y="2606040"/>
            <a:ext cx="377190" cy="123444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2606040"/>
            <a:ext cx="377190" cy="123444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" y="2468880"/>
            <a:ext cx="377190" cy="123444"/>
          </a:xfrm>
          <a:prstGeom prst="rect">
            <a:avLst/>
          </a:prstGeom>
          <a:solidFill>
            <a:srgbClr val="C4956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2468880"/>
            <a:ext cx="377190" cy="123444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18488" y="2468880"/>
            <a:ext cx="377190" cy="123444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7250" y="2331720"/>
            <a:ext cx="377190" cy="123444"/>
          </a:xfrm>
          <a:prstGeom prst="rect">
            <a:avLst/>
          </a:prstGeom>
          <a:solidFill>
            <a:srgbClr val="DEB887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97914" y="2331720"/>
            <a:ext cx="377190" cy="123444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4108" y="2194560"/>
            <a:ext cx="377190" cy="123444"/>
          </a:xfrm>
          <a:prstGeom prst="rect">
            <a:avLst/>
          </a:prstGeom>
          <a:solidFill>
            <a:srgbClr val="C9A882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48156" y="2194560"/>
            <a:ext cx="377190" cy="123444"/>
          </a:xfrm>
          <a:prstGeom prst="rect">
            <a:avLst/>
          </a:prstGeom>
          <a:solidFill>
            <a:srgbClr val="BF9B7A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68730" y="2057400"/>
            <a:ext cx="377190" cy="123444"/>
          </a:xfrm>
          <a:prstGeom prst="rect">
            <a:avLst/>
          </a:prstGeom>
          <a:solidFill>
            <a:srgbClr val="E74C3C"/>
          </a:solidFill>
          <a:ln w="6350">
            <a:solidFill>
              <a:srgbClr val="A084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Fragile. Undocumented.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compounding.</a:t>
            </a:r>
            <a:endParaRPr lang="en-US" sz="9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2651760"/>
            <a:ext cx="457200" cy="4572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228600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FACTORY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474720" y="3566160"/>
            <a:ext cx="377190" cy="123444"/>
          </a:xfrm>
          <a:prstGeom prst="rect">
            <a:avLst/>
          </a:prstGeom>
          <a:solidFill>
            <a:srgbClr val="4ADE8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872484" y="3566160"/>
            <a:ext cx="377190" cy="123444"/>
          </a:xfrm>
          <a:prstGeom prst="rect">
            <a:avLst/>
          </a:prstGeom>
          <a:solidFill>
            <a:srgbClr val="34D399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70248" y="3566160"/>
            <a:ext cx="377190" cy="123444"/>
          </a:xfrm>
          <a:prstGeom prst="rect">
            <a:avLst/>
          </a:prstGeom>
          <a:solidFill>
            <a:srgbClr val="2DD4BF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474720" y="3429000"/>
            <a:ext cx="377190" cy="123444"/>
          </a:xfrm>
          <a:prstGeom prst="rect">
            <a:avLst/>
          </a:prstGeom>
          <a:solidFill>
            <a:srgbClr val="34D399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72484" y="3429000"/>
            <a:ext cx="377190" cy="123444"/>
          </a:xfrm>
          <a:prstGeom prst="rect">
            <a:avLst/>
          </a:prstGeom>
          <a:solidFill>
            <a:srgbClr val="2DD4BF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270248" y="3429000"/>
            <a:ext cx="377190" cy="123444"/>
          </a:xfrm>
          <a:prstGeom prst="rect">
            <a:avLst/>
          </a:prstGeom>
          <a:solidFill>
            <a:srgbClr val="22D3E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474720" y="3291840"/>
            <a:ext cx="377190" cy="123444"/>
          </a:xfrm>
          <a:prstGeom prst="rect">
            <a:avLst/>
          </a:prstGeom>
          <a:solidFill>
            <a:srgbClr val="2DD4BF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872484" y="3291840"/>
            <a:ext cx="377190" cy="123444"/>
          </a:xfrm>
          <a:prstGeom prst="rect">
            <a:avLst/>
          </a:prstGeom>
          <a:solidFill>
            <a:srgbClr val="22D3E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70248" y="3291840"/>
            <a:ext cx="377190" cy="123444"/>
          </a:xfrm>
          <a:prstGeom prst="rect">
            <a:avLst/>
          </a:prstGeom>
          <a:solidFill>
            <a:srgbClr val="38BDF8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474720" y="3154680"/>
            <a:ext cx="377190" cy="123444"/>
          </a:xfrm>
          <a:prstGeom prst="rect">
            <a:avLst/>
          </a:prstGeom>
          <a:solidFill>
            <a:srgbClr val="22D3E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872484" y="3154680"/>
            <a:ext cx="377190" cy="123444"/>
          </a:xfrm>
          <a:prstGeom prst="rect">
            <a:avLst/>
          </a:prstGeom>
          <a:solidFill>
            <a:srgbClr val="38BDF8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270248" y="3154680"/>
            <a:ext cx="377190" cy="123444"/>
          </a:xfrm>
          <a:prstGeom prst="rect">
            <a:avLst/>
          </a:prstGeom>
          <a:solidFill>
            <a:srgbClr val="60A5F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474720" y="3017520"/>
            <a:ext cx="377190" cy="123444"/>
          </a:xfrm>
          <a:prstGeom prst="rect">
            <a:avLst/>
          </a:prstGeom>
          <a:solidFill>
            <a:srgbClr val="38BDF8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872484" y="3017520"/>
            <a:ext cx="377190" cy="123444"/>
          </a:xfrm>
          <a:prstGeom prst="rect">
            <a:avLst/>
          </a:prstGeom>
          <a:solidFill>
            <a:srgbClr val="60A5F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270248" y="3017520"/>
            <a:ext cx="377190" cy="123444"/>
          </a:xfrm>
          <a:prstGeom prst="rect">
            <a:avLst/>
          </a:prstGeom>
          <a:solidFill>
            <a:srgbClr val="4ADE8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474720" y="2880360"/>
            <a:ext cx="377190" cy="123444"/>
          </a:xfrm>
          <a:prstGeom prst="rect">
            <a:avLst/>
          </a:prstGeom>
          <a:solidFill>
            <a:srgbClr val="60A5F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872484" y="2880360"/>
            <a:ext cx="377190" cy="123444"/>
          </a:xfrm>
          <a:prstGeom prst="rect">
            <a:avLst/>
          </a:prstGeom>
          <a:solidFill>
            <a:srgbClr val="4ADE8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270248" y="2880360"/>
            <a:ext cx="377190" cy="123444"/>
          </a:xfrm>
          <a:prstGeom prst="rect">
            <a:avLst/>
          </a:prstGeom>
          <a:solidFill>
            <a:srgbClr val="34D399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474720" y="2743200"/>
            <a:ext cx="377190" cy="123444"/>
          </a:xfrm>
          <a:prstGeom prst="rect">
            <a:avLst/>
          </a:prstGeom>
          <a:solidFill>
            <a:srgbClr val="4ADE8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872484" y="2743200"/>
            <a:ext cx="377190" cy="123444"/>
          </a:xfrm>
          <a:prstGeom prst="rect">
            <a:avLst/>
          </a:prstGeom>
          <a:solidFill>
            <a:srgbClr val="34D399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270248" y="2743200"/>
            <a:ext cx="377190" cy="123444"/>
          </a:xfrm>
          <a:prstGeom prst="rect">
            <a:avLst/>
          </a:prstGeom>
          <a:solidFill>
            <a:srgbClr val="2DD4BF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474720" y="2606040"/>
            <a:ext cx="377190" cy="123444"/>
          </a:xfrm>
          <a:prstGeom prst="rect">
            <a:avLst/>
          </a:prstGeom>
          <a:solidFill>
            <a:srgbClr val="34D399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872484" y="2606040"/>
            <a:ext cx="377190" cy="123444"/>
          </a:xfrm>
          <a:prstGeom prst="rect">
            <a:avLst/>
          </a:prstGeom>
          <a:solidFill>
            <a:srgbClr val="2DD4BF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270248" y="2606040"/>
            <a:ext cx="377190" cy="123444"/>
          </a:xfrm>
          <a:prstGeom prst="rect">
            <a:avLst/>
          </a:prstGeom>
          <a:solidFill>
            <a:srgbClr val="22D3E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29184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32004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Smaller. Balanced.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on.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5303520" y="1417320"/>
            <a:ext cx="3383280" cy="5943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66" name="Shape 63"/>
          <p:cNvSpPr/>
          <p:nvPr/>
        </p:nvSpPr>
        <p:spPr>
          <a:xfrm>
            <a:off x="5303520" y="1417320"/>
            <a:ext cx="45720" cy="59436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6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54480"/>
            <a:ext cx="256032" cy="256032"/>
          </a:xfrm>
          <a:prstGeom prst="rect">
            <a:avLst/>
          </a:prstGeom>
        </p:spPr>
      </p:pic>
      <p:sp>
        <p:nvSpPr>
          <p:cNvPr id="68" name="Text 64"/>
          <p:cNvSpPr/>
          <p:nvPr/>
        </p:nvSpPr>
        <p:spPr>
          <a:xfrm>
            <a:off x="589788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Architecture</a:t>
            </a:r>
            <a:endParaRPr lang="en-US" sz="1200" dirty="0"/>
          </a:p>
        </p:txBody>
      </p:sp>
      <p:sp>
        <p:nvSpPr>
          <p:cNvPr id="69" name="Text 65"/>
          <p:cNvSpPr/>
          <p:nvPr/>
        </p:nvSpPr>
        <p:spPr>
          <a:xfrm>
            <a:off x="5897880" y="1709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Simpler, efficient implementation. Built for today, ready for tomorrow.</a:t>
            </a:r>
            <a:endParaRPr lang="en-US" sz="1000" dirty="0"/>
          </a:p>
        </p:txBody>
      </p:sp>
      <p:sp>
        <p:nvSpPr>
          <p:cNvPr id="70" name="Shape 66"/>
          <p:cNvSpPr/>
          <p:nvPr/>
        </p:nvSpPr>
        <p:spPr>
          <a:xfrm>
            <a:off x="5303520" y="2103120"/>
            <a:ext cx="3383280" cy="5943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71" name="Shape 67"/>
          <p:cNvSpPr/>
          <p:nvPr/>
        </p:nvSpPr>
        <p:spPr>
          <a:xfrm>
            <a:off x="5303520" y="2103120"/>
            <a:ext cx="45720" cy="59436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7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240280"/>
            <a:ext cx="256032" cy="256032"/>
          </a:xfrm>
          <a:prstGeom prst="rect">
            <a:avLst/>
          </a:prstGeom>
        </p:spPr>
      </p:pic>
      <p:sp>
        <p:nvSpPr>
          <p:cNvPr id="73" name="Text 68"/>
          <p:cNvSpPr/>
          <p:nvPr/>
        </p:nvSpPr>
        <p:spPr>
          <a:xfrm>
            <a:off x="5897880" y="21488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Manage</a:t>
            </a:r>
            <a:endParaRPr lang="en-US" sz="1200" dirty="0"/>
          </a:p>
        </p:txBody>
      </p:sp>
      <p:sp>
        <p:nvSpPr>
          <p:cNvPr id="74" name="Text 69"/>
          <p:cNvSpPr/>
          <p:nvPr/>
        </p:nvSpPr>
        <p:spPr>
          <a:xfrm>
            <a:off x="5897880" y="2395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systems that teams can understand, maintain, and extend.</a:t>
            </a:r>
            <a:endParaRPr lang="en-US" sz="1000" dirty="0"/>
          </a:p>
        </p:txBody>
      </p:sp>
      <p:sp>
        <p:nvSpPr>
          <p:cNvPr id="75" name="Shape 70"/>
          <p:cNvSpPr/>
          <p:nvPr/>
        </p:nvSpPr>
        <p:spPr>
          <a:xfrm>
            <a:off x="5303520" y="2788920"/>
            <a:ext cx="3383280" cy="5943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76" name="Shape 71"/>
          <p:cNvSpPr/>
          <p:nvPr/>
        </p:nvSpPr>
        <p:spPr>
          <a:xfrm>
            <a:off x="5303520" y="2788920"/>
            <a:ext cx="45720" cy="59436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926080"/>
            <a:ext cx="256032" cy="256032"/>
          </a:xfrm>
          <a:prstGeom prst="rect">
            <a:avLst/>
          </a:prstGeom>
        </p:spPr>
      </p:pic>
      <p:sp>
        <p:nvSpPr>
          <p:cNvPr id="78" name="Text 72"/>
          <p:cNvSpPr/>
          <p:nvPr/>
        </p:nvSpPr>
        <p:spPr>
          <a:xfrm>
            <a:off x="5897880" y="2834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Weight Removed</a:t>
            </a:r>
            <a:endParaRPr lang="en-US" sz="1200" dirty="0"/>
          </a:p>
        </p:txBody>
      </p:sp>
      <p:sp>
        <p:nvSpPr>
          <p:cNvPr id="79" name="Text 73"/>
          <p:cNvSpPr/>
          <p:nvPr/>
        </p:nvSpPr>
        <p:spPr>
          <a:xfrm>
            <a:off x="5897880" y="3081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Unwanted programs identified and retired. No more untouchable code.</a:t>
            </a:r>
            <a:endParaRPr lang="en-US" sz="1000" dirty="0"/>
          </a:p>
        </p:txBody>
      </p:sp>
      <p:sp>
        <p:nvSpPr>
          <p:cNvPr id="80" name="Shape 74"/>
          <p:cNvSpPr/>
          <p:nvPr/>
        </p:nvSpPr>
        <p:spPr>
          <a:xfrm>
            <a:off x="5303520" y="3474720"/>
            <a:ext cx="3383280" cy="5943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81" name="Shape 75"/>
          <p:cNvSpPr/>
          <p:nvPr/>
        </p:nvSpPr>
        <p:spPr>
          <a:xfrm>
            <a:off x="5303520" y="3474720"/>
            <a:ext cx="45720" cy="59436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8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611880"/>
            <a:ext cx="256032" cy="256032"/>
          </a:xfrm>
          <a:prstGeom prst="rect">
            <a:avLst/>
          </a:prstGeom>
        </p:spPr>
      </p:pic>
      <p:sp>
        <p:nvSpPr>
          <p:cNvPr id="83" name="Text 76"/>
          <p:cNvSpPr/>
          <p:nvPr/>
        </p:nvSpPr>
        <p:spPr>
          <a:xfrm>
            <a:off x="5897880" y="3520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Captured Permanently</a:t>
            </a:r>
            <a:endParaRPr lang="en-US" sz="1200" dirty="0"/>
          </a:p>
        </p:txBody>
      </p:sp>
      <p:sp>
        <p:nvSpPr>
          <p:cNvPr id="84" name="Text 77"/>
          <p:cNvSpPr/>
          <p:nvPr/>
        </p:nvSpPr>
        <p:spPr>
          <a:xfrm>
            <a:off x="5897880" y="3767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and decisions extracted from heads and locked in forever.</a:t>
            </a:r>
            <a:endParaRPr lang="en-US" sz="1000" dirty="0"/>
          </a:p>
        </p:txBody>
      </p:sp>
      <p:sp>
        <p:nvSpPr>
          <p:cNvPr id="85" name="Shape 78"/>
          <p:cNvSpPr/>
          <p:nvPr/>
        </p:nvSpPr>
        <p:spPr>
          <a:xfrm>
            <a:off x="731520" y="4160520"/>
            <a:ext cx="7680960" cy="914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6" name="Text 79"/>
          <p:cNvSpPr/>
          <p:nvPr/>
        </p:nvSpPr>
        <p:spPr>
          <a:xfrm>
            <a:off x="731520" y="42245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you can finally build on.</a:t>
            </a:r>
            <a:endParaRPr lang="en-US" sz="1200" dirty="0"/>
          </a:p>
        </p:txBody>
      </p:sp>
      <p:sp>
        <p:nvSpPr>
          <p:cNvPr id="87" name="Shape 80"/>
          <p:cNvSpPr/>
          <p:nvPr/>
        </p:nvSpPr>
        <p:spPr>
          <a:xfrm>
            <a:off x="731520" y="443484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8" name="Text 81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89" name="Text 82"/>
          <p:cNvSpPr/>
          <p:nvPr/>
        </p:nvSpPr>
        <p:spPr>
          <a:xfrm>
            <a:off x="502920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Tools Exist. The Missing Piece Was the Engine.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468880" cy="25603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2468880" cy="4572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Agents Can Now Do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121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Comprehend millions of lines of legacy code in hours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87752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business rules from undocumented programs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26664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999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transformation code and test cases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65576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34381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changes across interconnected systems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3337560" y="1463040"/>
            <a:ext cx="2468880" cy="2560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1"/>
          <p:cNvSpPr/>
          <p:nvPr/>
        </p:nvSpPr>
        <p:spPr>
          <a:xfrm>
            <a:off x="3337560" y="1463040"/>
            <a:ext cx="2468880" cy="457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1645920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88620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Already Have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3474720" y="2148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Code Assistant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3474720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 comprehension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3474720" y="25877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3474720" y="2770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3474720" y="30266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Duo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3474720" y="32095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orchestration, traceability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3474720" y="34655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3474720" y="36484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app catalog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5943600" y="1463040"/>
            <a:ext cx="2468880" cy="256032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0" name="Shape 22"/>
          <p:cNvSpPr/>
          <p:nvPr/>
        </p:nvSpPr>
        <p:spPr>
          <a:xfrm>
            <a:off x="5943600" y="1463040"/>
            <a:ext cx="2468880" cy="457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1645920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49224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Missing</a:t>
            </a:r>
            <a:endParaRPr lang="en-US" sz="12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2148840"/>
            <a:ext cx="137160" cy="1371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291072" y="21214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connecting tools into a single pipeline</a:t>
            </a:r>
            <a:endParaRPr lang="en-US" sz="10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2587752"/>
            <a:ext cx="137160" cy="13716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291072" y="2560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methodology turning AI into repeatable output</a:t>
            </a:r>
            <a:endParaRPr lang="en-US" sz="10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760" y="3026664"/>
            <a:ext cx="137160" cy="13716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291072" y="29992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understand mainframe AND AI workflows</a:t>
            </a:r>
            <a:endParaRPr lang="en-US" sz="1000" dirty="0"/>
          </a:p>
        </p:txBody>
      </p:sp>
      <p:sp>
        <p:nvSpPr>
          <p:cNvPr id="39" name="Text 27"/>
          <p:cNvSpPr/>
          <p:nvPr/>
        </p:nvSpPr>
        <p:spPr>
          <a:xfrm>
            <a:off x="6080760" y="35112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Infosys brings.</a:t>
            </a:r>
            <a:endParaRPr lang="en-US" sz="1100" dirty="0"/>
          </a:p>
        </p:txBody>
      </p:sp>
      <p:sp>
        <p:nvSpPr>
          <p:cNvPr id="40" name="Shape 28"/>
          <p:cNvSpPr/>
          <p:nvPr/>
        </p:nvSpPr>
        <p:spPr>
          <a:xfrm>
            <a:off x="731520" y="4160520"/>
            <a:ext cx="7680960" cy="914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Text 29"/>
          <p:cNvSpPr/>
          <p:nvPr/>
        </p:nvSpPr>
        <p:spPr>
          <a:xfrm>
            <a:off x="731520" y="42245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more tools. You need the engine that makes them work together.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731520" y="443484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3" name="Text 31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502920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Agents. 2-Day Sprints. One Application at a Time.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468880" cy="20116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2468880" cy="4572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54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PRE-SPRINT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34440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137160" cy="1371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1305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 scans legacy code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41448"/>
            <a:ext cx="137160" cy="1371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24231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business rules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34056"/>
            <a:ext cx="137160" cy="1371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992" y="27157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dependencies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026664"/>
            <a:ext cx="137160" cy="1371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78992" y="3008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SME validates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2240280"/>
            <a:ext cx="228600" cy="228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383280" y="1417320"/>
            <a:ext cx="2468880" cy="20116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Shape 12"/>
          <p:cNvSpPr/>
          <p:nvPr/>
        </p:nvSpPr>
        <p:spPr>
          <a:xfrm>
            <a:off x="3383280" y="1417320"/>
            <a:ext cx="2468880" cy="4572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1554480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886200" y="1554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23" name="Text 14"/>
          <p:cNvSpPr/>
          <p:nvPr/>
        </p:nvSpPr>
        <p:spPr>
          <a:xfrm>
            <a:off x="388620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Review</a:t>
            </a:r>
            <a:endParaRPr lang="en-US" sz="14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40" y="2148840"/>
            <a:ext cx="137160" cy="13716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30752" y="21305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 generates target design</a:t>
            </a:r>
            <a:endParaRPr lang="en-US" sz="10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0440" y="2441448"/>
            <a:ext cx="137160" cy="13716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730752" y="24231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Developer produces code</a:t>
            </a:r>
            <a:endParaRPr lang="en-US" sz="10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0440" y="2734056"/>
            <a:ext cx="137160" cy="13716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730752" y="27157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auto-generated</a:t>
            </a:r>
            <a:endParaRPr lang="en-US" sz="10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0440" y="3026664"/>
            <a:ext cx="137160" cy="13716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3730752" y="3008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team reviews &amp; approves</a:t>
            </a:r>
            <a:endParaRPr lang="en-US" sz="10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7880" y="2240280"/>
            <a:ext cx="228600" cy="228600"/>
          </a:xfrm>
          <a:prstGeom prst="rect">
            <a:avLst/>
          </a:prstGeom>
        </p:spPr>
      </p:pic>
      <p:sp>
        <p:nvSpPr>
          <p:cNvPr id="33" name="Shape 19"/>
          <p:cNvSpPr/>
          <p:nvPr/>
        </p:nvSpPr>
        <p:spPr>
          <a:xfrm>
            <a:off x="6035040" y="1417320"/>
            <a:ext cx="2468880" cy="20116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4" name="Shape 20"/>
          <p:cNvSpPr/>
          <p:nvPr/>
        </p:nvSpPr>
        <p:spPr>
          <a:xfrm>
            <a:off x="6035040" y="1417320"/>
            <a:ext cx="2468880" cy="4572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1554480"/>
            <a:ext cx="274320" cy="27432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6537960" y="1554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37" name="Text 22"/>
          <p:cNvSpPr/>
          <p:nvPr/>
        </p:nvSpPr>
        <p:spPr>
          <a:xfrm>
            <a:off x="653796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Validate</a:t>
            </a:r>
            <a:endParaRPr lang="en-US" sz="140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2148840"/>
            <a:ext cx="137160" cy="137160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382512" y="21305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execute transformation</a:t>
            </a:r>
            <a:endParaRPr lang="en-US" sz="10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2441448"/>
            <a:ext cx="137160" cy="137160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6382512" y="24231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runs</a:t>
            </a:r>
            <a:endParaRPr lang="en-US" sz="1000" dirty="0"/>
          </a:p>
        </p:txBody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72200" y="2734056"/>
            <a:ext cx="137160" cy="137160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6382512" y="27157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generated in Backstage</a:t>
            </a:r>
            <a:endParaRPr lang="en-US" sz="1000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72200" y="3026664"/>
            <a:ext cx="137160" cy="137160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6382512" y="3008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 logged in GitLab</a:t>
            </a:r>
            <a:endParaRPr lang="en-US" sz="1000" dirty="0"/>
          </a:p>
        </p:txBody>
      </p:sp>
      <p:sp>
        <p:nvSpPr>
          <p:cNvPr id="46" name="Shape 27"/>
          <p:cNvSpPr/>
          <p:nvPr/>
        </p:nvSpPr>
        <p:spPr>
          <a:xfrm>
            <a:off x="731520" y="3611880"/>
            <a:ext cx="76809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Shape 28"/>
          <p:cNvSpPr/>
          <p:nvPr/>
        </p:nvSpPr>
        <p:spPr>
          <a:xfrm>
            <a:off x="731520" y="3611880"/>
            <a:ext cx="768096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Text 29"/>
          <p:cNvSpPr/>
          <p:nvPr/>
        </p:nvSpPr>
        <p:spPr>
          <a:xfrm>
            <a:off x="82296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TOOLS</a:t>
            </a:r>
            <a:endParaRPr lang="en-US" sz="800" dirty="0"/>
          </a:p>
        </p:txBody>
      </p:sp>
      <p:sp>
        <p:nvSpPr>
          <p:cNvPr id="49" name="Text 30"/>
          <p:cNvSpPr/>
          <p:nvPr/>
        </p:nvSpPr>
        <p:spPr>
          <a:xfrm>
            <a:off x="19202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 |  Copilot  |  GitLab Duo  |  Backstage</a:t>
            </a:r>
            <a:endParaRPr lang="en-US" sz="1000" dirty="0"/>
          </a:p>
        </p:txBody>
      </p:sp>
      <p:sp>
        <p:nvSpPr>
          <p:cNvPr id="50" name="Text 31"/>
          <p:cNvSpPr/>
          <p:nvPr/>
        </p:nvSpPr>
        <p:spPr>
          <a:xfrm>
            <a:off x="530352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ENGINE</a:t>
            </a:r>
            <a:endParaRPr lang="en-US" sz="800" dirty="0"/>
          </a:p>
        </p:txBody>
      </p:sp>
      <p:sp>
        <p:nvSpPr>
          <p:cNvPr id="51" name="Text 32"/>
          <p:cNvSpPr/>
          <p:nvPr/>
        </p:nvSpPr>
        <p:spPr>
          <a:xfrm>
            <a:off x="6400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Framework  |  Infosys Team</a:t>
            </a:r>
            <a:endParaRPr lang="en-US" sz="1000" dirty="0"/>
          </a:p>
        </p:txBody>
      </p:sp>
      <p:sp>
        <p:nvSpPr>
          <p:cNvPr id="52" name="Shape 33"/>
          <p:cNvSpPr/>
          <p:nvPr/>
        </p:nvSpPr>
        <p:spPr>
          <a:xfrm>
            <a:off x="731520" y="4160520"/>
            <a:ext cx="7680960" cy="914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3" name="Text 34"/>
          <p:cNvSpPr/>
          <p:nvPr/>
        </p:nvSpPr>
        <p:spPr>
          <a:xfrm>
            <a:off x="731520" y="42245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enters legacy. Every application exits modern. Fully documented. Fully traceable.</a:t>
            </a:r>
            <a:endParaRPr lang="en-US" sz="1100" dirty="0"/>
          </a:p>
        </p:txBody>
      </p:sp>
      <p:sp>
        <p:nvSpPr>
          <p:cNvPr id="54" name="Shape 35"/>
          <p:cNvSpPr/>
          <p:nvPr/>
        </p:nvSpPr>
        <p:spPr>
          <a:xfrm>
            <a:off x="731520" y="443484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5" name="Text 36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56" name="Text 37"/>
          <p:cNvSpPr/>
          <p:nvPr/>
        </p:nvSpPr>
        <p:spPr>
          <a:xfrm>
            <a:off x="502920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Mainframe Modernization Factory for Z-Abacus</dc:title>
  <dc:subject>PptxGenJS Presentation</dc:subject>
  <dc:creator>Infosys</dc:creator>
  <cp:lastModifiedBy>Infosys</cp:lastModifiedBy>
  <cp:revision>1</cp:revision>
  <dcterms:created xsi:type="dcterms:W3CDTF">2026-02-11T12:51:30Z</dcterms:created>
  <dcterms:modified xsi:type="dcterms:W3CDTF">2026-02-11T12:51:30Z</dcterms:modified>
</cp:coreProperties>
</file>